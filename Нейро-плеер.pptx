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/>
      <p:bold r:id="rId15"/>
    </p:embeddedFont>
    <p:embeddedFont>
      <p:font typeface="JetBrains Mono"/>
      <p:bold r:id="rId16"/>
    </p:embeddedFont>
    <p:embeddedFont>
      <p:font typeface="Space Grotesk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24500"/>
            <a:ext cx="10972800" cy="723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952500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5245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JetBrains Mono"/>
              </a:rPr>
              <a:t>ЗАЩИТА ИНДИВИДУАЛЬНОГО ПРОЕКТА //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52687"/>
            <a:ext cx="11582400" cy="828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100" b="1" i="0" u="none">
                <a:solidFill>
                  <a:srgbClr val="F8FAFC"/>
                </a:solidFill>
                <a:latin typeface="Space Grotesk"/>
              </a:rPr>
              <a:t>«Нейро-плеер»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71862"/>
            <a:ext cx="79057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94A3B8"/>
                </a:solidFill>
                <a:latin typeface="Inter"/>
              </a:rPr>
              <a:t>Мониторинг ритмов мозга и подбор музыки с помощью искусственного интеллекта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800725"/>
            <a:ext cx="3738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АВТОР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19800"/>
            <a:ext cx="3738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Морозов Тимофей Дмитриевич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0050" y="5800725"/>
            <a:ext cx="2274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НАУЧНЫЙ РУКОВОДИТЕЛЬ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0050" y="6019800"/>
            <a:ext cx="2274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Артем Гуйван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66975"/>
            <a:ext cx="3505200" cy="2905125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466975"/>
            <a:ext cx="3505200" cy="2905125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66987"/>
            <a:ext cx="3505200" cy="2705100"/>
          </a:xfrm>
          <a:prstGeom prst="roundRect">
            <a:avLst>
              <a:gd name="adj" fmla="val 5633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00350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800350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90036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КРИТЕРИЙ 1 // ОБОСНОВАНИЕ И ИЗМЕРИМЫЕ МЕТРИКИ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Проблема, потребители и показатели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5650"/>
            <a:ext cx="38004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Проблема и актуальность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295650"/>
            <a:ext cx="38004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Потребители и заказчики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395662"/>
            <a:ext cx="38004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Показатели назначения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76650"/>
            <a:ext cx="2990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Стресс: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Рост когнитивных перегрузок.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71950"/>
            <a:ext cx="2990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Слепая зона: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Нет контроля ритмов мозга.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7250"/>
            <a:ext cx="2990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Субъективность: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Подбор музыки наугад.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676650"/>
            <a:ext cx="2990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Учащиеся и ИТ: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Снятие переутомления.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4171950"/>
            <a:ext cx="2990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Кабинеты разгрузки: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Школы и вузы.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4667250"/>
            <a:ext cx="2990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Нейро-кружки: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Лаборатории биохакинга.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3776662"/>
            <a:ext cx="2511650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Inter"/>
              </a:rPr>
              <a:t>Диапазон</a:t>
            </a:r>
            <a:r>
              <a:rPr sz="1350" b="1" i="0" u="none" dirty="0">
                <a:solidFill>
                  <a:srgbClr val="0F172A"/>
                </a:solidFill>
                <a:latin typeface="Inter"/>
              </a:rPr>
              <a:t> ЭЭГ:</a:t>
            </a:r>
            <a:r>
              <a:rPr sz="135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0F172A"/>
                </a:solidFill>
                <a:latin typeface="Inter"/>
              </a:rPr>
              <a:t>от</a:t>
            </a:r>
            <a:r>
              <a:rPr sz="1350" b="0" i="0" u="none" dirty="0">
                <a:solidFill>
                  <a:srgbClr val="0F172A"/>
                </a:solidFill>
                <a:latin typeface="Inter"/>
              </a:rPr>
              <a:t> 0.5 </a:t>
            </a:r>
            <a:r>
              <a:rPr sz="1350" b="0" i="0" u="none" dirty="0" err="1">
                <a:solidFill>
                  <a:srgbClr val="0F172A"/>
                </a:solidFill>
                <a:latin typeface="Inter"/>
              </a:rPr>
              <a:t>до</a:t>
            </a:r>
            <a:r>
              <a:rPr sz="135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lang="ru-RU" sz="1350" dirty="0" smtClean="0">
                <a:solidFill>
                  <a:srgbClr val="0F172A"/>
                </a:solidFill>
                <a:latin typeface="Inter"/>
              </a:rPr>
              <a:t>25-30</a:t>
            </a:r>
          </a:p>
          <a:p>
            <a:pPr algn="l"/>
            <a:r>
              <a:rPr sz="1350" b="0" i="0" u="none" dirty="0" smtClean="0">
                <a:solidFill>
                  <a:srgbClr val="0F172A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0F172A"/>
                </a:solidFill>
                <a:latin typeface="Inter"/>
              </a:rPr>
              <a:t>Гц</a:t>
            </a:r>
            <a:r>
              <a:rPr sz="1350" b="0" i="0" u="none" dirty="0">
                <a:solidFill>
                  <a:srgbClr val="0F172A"/>
                </a:solidFill>
                <a:latin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4071937"/>
            <a:ext cx="2990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Скорость порта:</a:t>
            </a:r>
            <a:r>
              <a:rPr sz="1350" b="0" i="0" u="none">
                <a:solidFill>
                  <a:srgbClr val="0F172A"/>
                </a:solidFill>
                <a:latin typeface="Inter"/>
              </a:rPr>
              <a:t> 9600 бод (задержка &lt;50 мс).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4567237"/>
            <a:ext cx="2990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Точность ИИ:</a:t>
            </a:r>
            <a:r>
              <a:rPr sz="1350" b="0" i="0" u="none">
                <a:solidFill>
                  <a:srgbClr val="0F172A"/>
                </a:solidFill>
                <a:latin typeface="Inter"/>
              </a:rPr>
              <a:t> R² = 0.89 (прогноз &lt;10 мс).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24125"/>
            <a:ext cx="4191000" cy="2790825"/>
          </a:xfrm>
          <a:prstGeom prst="roundRect">
            <a:avLst>
              <a:gd name="adj" fmla="val 546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КРИТЕРИЙ 1 // ПОСТАНОВКА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Цель и задачи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867025"/>
            <a:ext cx="4381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ЦЕЛЬ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143250"/>
            <a:ext cx="360045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Inter"/>
              </a:rPr>
              <a:t>Разработка программного комплекса на базе Python и Arduino для визуализации биоритмов мозга в реальном времени и подбора музыки с помощью алгоритмов машинного обучения для коррекции психоэмоционального состояния человека.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714625"/>
            <a:ext cx="6934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Задачи реализации: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2100" y="3138487"/>
            <a:ext cx="114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152775"/>
            <a:ext cx="6705600" cy="20002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Диапазоны ЭЭГ: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Изучить Дельта, Тета, Альфа, Бета ритмы и нормы.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0" y="3452812"/>
            <a:ext cx="15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467100"/>
            <a:ext cx="6705600" cy="20002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Связь с МК: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Настроить передачу данных с Arduino в Python.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0" y="3767137"/>
            <a:ext cx="15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781425"/>
            <a:ext cx="6191250" cy="40005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GUI интерфейс: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Разработать приложение на PyQt6 с живыми графиками.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4281487"/>
            <a:ext cx="15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95775"/>
            <a:ext cx="6705600" cy="20002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ML-модель: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Обучить алгоритм прогнозу влияния музыки на частоту.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0" y="4595812"/>
            <a:ext cx="15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610100"/>
            <a:ext cx="6705600" cy="20002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Функционал: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Встроить аудиоплеер и сохранение данных в TXT.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3525" y="4910137"/>
            <a:ext cx="14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924425"/>
            <a:ext cx="6705600" cy="20002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Испытания: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Протестировать систему в демо-режиме и с датчиком.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200650"/>
            <a:ext cx="10972800" cy="1560368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62075"/>
            <a:ext cx="10972800" cy="22098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362075"/>
          <a:ext cx="10972798" cy="2209800"/>
        </p:xfrm>
        <a:graphic>
          <a:graphicData uri="http://schemas.openxmlformats.org/drawingml/2006/table">
            <a:tbl>
              <a:tblPr/>
              <a:tblGrid>
                <a:gridCol w="2965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3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Inter"/>
                        </a:rPr>
                        <a:t>Показатель назначения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Inter"/>
                        </a:rPr>
                        <a:t>Brain.fm / Endel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Inter"/>
                        </a:rPr>
                        <a:t>Muse Headband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Inter"/>
                        </a:rPr>
                        <a:t>«Нейро-плеер»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Обратная связь по ЭЭГ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Inter"/>
                        </a:rPr>
                        <a:t>Нет (таймеры)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Да (0.5–30 Гц)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Да (0.5–35 Гц)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ML-прогноз частоты (Гц)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Inter"/>
                        </a:rPr>
                        <a:t>Фоновая генерация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Inter"/>
                        </a:rPr>
                        <a:t>Только звуки природы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DecisionTreeRegressor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Свои треки и экспорт TXT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Inter"/>
                        </a:rPr>
                        <a:t>Закрытый каталог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Inter"/>
                        </a:rPr>
                        <a:t>Платный экспорт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Локальные MP3 + TXT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Стоимость решения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~5000 руб./год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от 25 000 руб.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Открытый код (~1500 руб.)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КРИТЕРИЙ 2 // СРАВНИТЕЛЬНЫЙ АНАЛИЗ И ИСТОЧНИКИ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Анализ аналогов и литература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391150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Список используемой литературы: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667375"/>
            <a:ext cx="2228273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475569"/>
                </a:solidFill>
                <a:latin typeface="Inter"/>
              </a:rPr>
              <a:t>[1] </a:t>
            </a:r>
            <a:r>
              <a:rPr sz="1125" b="1" i="0" u="none" dirty="0" err="1">
                <a:solidFill>
                  <a:srgbClr val="475569"/>
                </a:solidFill>
                <a:latin typeface="Inter"/>
              </a:rPr>
              <a:t>Зенков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 Л. Р.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Клиническая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электроэнцефалография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. — М.: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МЕДпресс-информ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, 2018.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218" y="5709371"/>
            <a:ext cx="2600037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475569"/>
                </a:solidFill>
                <a:latin typeface="Inter"/>
              </a:rPr>
              <a:t>[2] </a:t>
            </a:r>
            <a:r>
              <a:rPr sz="1125" b="1" i="0" u="none" dirty="0" err="1">
                <a:solidFill>
                  <a:srgbClr val="475569"/>
                </a:solidFill>
                <a:latin typeface="Inter"/>
              </a:rPr>
              <a:t>Мюллер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 А., </a:t>
            </a:r>
            <a:r>
              <a:rPr sz="1125" b="1" i="0" u="none" dirty="0" err="1">
                <a:solidFill>
                  <a:srgbClr val="475569"/>
                </a:solidFill>
                <a:latin typeface="Inter"/>
              </a:rPr>
              <a:t>Гвидо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 С.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Введение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в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машинное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обучение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с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помощью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Python (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Scikit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-learn).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0" y="5694939"/>
            <a:ext cx="2045855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475569"/>
                </a:solidFill>
                <a:latin typeface="Inter"/>
              </a:rPr>
              <a:t>[3] </a:t>
            </a:r>
            <a:r>
              <a:rPr sz="1125" b="1" i="0" u="none" dirty="0" err="1">
                <a:solidFill>
                  <a:srgbClr val="475569"/>
                </a:solidFill>
                <a:latin typeface="Inter"/>
              </a:rPr>
              <a:t>Мартин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rgbClr val="475569"/>
                </a:solidFill>
                <a:latin typeface="Inter"/>
              </a:rPr>
              <a:t>Фицпатрик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.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Создание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графических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интерфейсов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Python с PyQt6, 2022.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2095" y="5781675"/>
            <a:ext cx="34480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400" b="1" dirty="0" smtClean="0">
                <a:solidFill>
                  <a:srgbClr val="475569"/>
                </a:solidFill>
                <a:latin typeface="Inter"/>
              </a:rPr>
              <a:t>Так же вся остальная литература есть в файле</a:t>
            </a:r>
            <a:r>
              <a:rPr lang="en-US" sz="1400" b="1" dirty="0" smtClean="0">
                <a:solidFill>
                  <a:srgbClr val="475569"/>
                </a:solidFill>
                <a:latin typeface="Inter"/>
              </a:rPr>
              <a:t> </a:t>
            </a:r>
            <a:r>
              <a:rPr lang="ru-RU" sz="1400" b="1" dirty="0" smtClean="0">
                <a:solidFill>
                  <a:srgbClr val="475569"/>
                </a:solidFill>
                <a:latin typeface="Inter"/>
              </a:rPr>
              <a:t>«</a:t>
            </a:r>
            <a:r>
              <a:rPr lang="en-US" sz="1400" b="1" i="1" dirty="0" smtClean="0">
                <a:solidFill>
                  <a:srgbClr val="475569"/>
                </a:solidFill>
                <a:latin typeface="Inter"/>
              </a:rPr>
              <a:t>lit.txt</a:t>
            </a:r>
            <a:r>
              <a:rPr lang="ru-RU" sz="1400" b="1" i="1" dirty="0" smtClean="0">
                <a:solidFill>
                  <a:srgbClr val="475569"/>
                </a:solidFill>
                <a:latin typeface="Inter"/>
              </a:rPr>
              <a:t>»</a:t>
            </a:r>
            <a:endParaRPr sz="1400" b="1" i="1" dirty="0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СБОР ОБУЧАЮЩЕЙ ВЫБОРКИ // ПЕРВИЧНЫЕ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Сырая диаграмма опроса (N = _чел.)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62212"/>
            <a:ext cx="5581650" cy="28765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34150" y="2343150"/>
            <a:ext cx="5048250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34150" y="3895725"/>
            <a:ext cx="5048250" cy="1562100"/>
          </a:xfrm>
          <a:prstGeom prst="roundRect">
            <a:avLst>
              <a:gd name="adj" fmla="val 975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КРИТЕРИЙ 3 // УПРАВЛЕНИЕ ПРОЕКТОМ И РЕСУРСЫ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План работ и ресурсное обеспечение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728912"/>
            <a:ext cx="662582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Этапы и промежуточные итоги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128962"/>
            <a:ext cx="5143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Этап 1 (Сент–Окт):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Опрос (N=45), формирование CSV-датасета треков.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643312"/>
            <a:ext cx="5143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Этап 2 (Нояб):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Прошивка Arduino, передача сигнала на 9600 бод.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157662"/>
            <a:ext cx="5143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Этап 3 (Дек–Янв):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Обучение модели, разработка GUI на PyQt6.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672012"/>
            <a:ext cx="5143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Этап 4 (Фев):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Интеграция плеера, испытания и верификация.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0" y="2571750"/>
            <a:ext cx="5429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Использованные ресурсы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0" y="2876550"/>
            <a:ext cx="46863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Микроконтроллер Arduino, аналоговый датчик, ПК, открытые библиотеки Python (PyQt6, PyQtGraph, Scikit-learn, Pandas, Joblib).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4124325"/>
            <a:ext cx="5429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Способы привлечения ресурсов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0" y="4429125"/>
            <a:ext cx="46863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Inter"/>
              </a:rPr>
              <a:t>Аппаратная база предоставлена учебной лабораторией; ПО привлечено по свободным лицензиям Open-Source; датасет собран краудсорсингом.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9400"/>
            <a:ext cx="1851719" cy="2238375"/>
          </a:xfrm>
          <a:prstGeom prst="roundRect">
            <a:avLst>
              <a:gd name="adj" fmla="val 8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89944" y="2933700"/>
            <a:ext cx="1851719" cy="2009775"/>
          </a:xfrm>
          <a:prstGeom prst="roundRect">
            <a:avLst>
              <a:gd name="adj" fmla="val 8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70289" y="2933700"/>
            <a:ext cx="1851719" cy="2009775"/>
          </a:xfrm>
          <a:prstGeom prst="roundRect">
            <a:avLst>
              <a:gd name="adj" fmla="val 8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50633" y="2933700"/>
            <a:ext cx="1851719" cy="2009775"/>
          </a:xfrm>
          <a:prstGeom prst="roundRect">
            <a:avLst>
              <a:gd name="adj" fmla="val 8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30978" y="2933700"/>
            <a:ext cx="1851719" cy="2009775"/>
          </a:xfrm>
          <a:prstGeom prst="roundRect">
            <a:avLst>
              <a:gd name="adj" fmla="val 823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619" y="3819525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964" y="3819525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308" y="3819525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6653" y="3819525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059" y="3114675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2454" y="3228975"/>
            <a:ext cx="2667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748" y="3228975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4093" y="3228975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4437" y="3228975"/>
            <a:ext cx="3048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ПРИНЦИП РАБОТЫ КОМПЛЕКСА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Архитектура приложения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260" y="3609975"/>
            <a:ext cx="18383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JetBrains Mono"/>
              </a:rPr>
              <a:t>ШАГ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300" y="3857625"/>
            <a:ext cx="1930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Датчик / Arduino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260" y="4391025"/>
            <a:ext cx="1838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АЦП и порт 9600 бод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6604" y="3724275"/>
            <a:ext cx="18383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JetBrains Mono"/>
              </a:rPr>
              <a:t>ШАГ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0644" y="3971925"/>
            <a:ext cx="193031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Python + PyQt6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6604" y="4276725"/>
            <a:ext cx="1838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Прием потока данных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6949" y="3724275"/>
            <a:ext cx="18383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JetBrains Mono"/>
              </a:rPr>
              <a:t>ШАГ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0989" y="3971925"/>
            <a:ext cx="193031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PyQtGraph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6949" y="4276725"/>
            <a:ext cx="1838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Рендеринг и анализ Гц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7293" y="3724275"/>
            <a:ext cx="18383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JetBrains Mono"/>
              </a:rPr>
              <a:t>ШАГ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1333" y="3971925"/>
            <a:ext cx="193031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Scikit-learn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7293" y="4276725"/>
            <a:ext cx="1838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Дерево решений 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7638" y="3724275"/>
            <a:ext cx="18383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E0F2FE"/>
                </a:solidFill>
                <a:latin typeface="JetBrains Mono"/>
              </a:rPr>
              <a:t>ШАГ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1678" y="3971925"/>
            <a:ext cx="193031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Плеер и TXT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7638" y="4276725"/>
            <a:ext cx="1838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0F9FF"/>
                </a:solidFill>
                <a:latin typeface="Inter"/>
              </a:rPr>
              <a:t>Коррекция состояния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91100" y="2328862"/>
            <a:ext cx="6591300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991100" y="3719512"/>
            <a:ext cx="6591300" cy="1752600"/>
          </a:xfrm>
          <a:prstGeom prst="roundRect">
            <a:avLst>
              <a:gd name="adj" fmla="val 869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95487"/>
            <a:ext cx="400050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47887"/>
            <a:ext cx="3695700" cy="3505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АППАРАТНО-АЛГОРИТМИЧЕСКАЯ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Аппаратная часть и ИИ-модель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9700" y="2557462"/>
            <a:ext cx="6972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Модуль Arduino + Serial Port (9600 бод)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9700" y="2900362"/>
            <a:ext cx="6229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Считывание биоритмов с аналогового датчика и встроенный генератор тестового сигнала для автономной отладки.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9700" y="3948112"/>
            <a:ext cx="6972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JetBrains Mono"/>
              </a:rPr>
              <a:t>Алгоритм DecisionTreeRegressor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9700" y="4291012"/>
            <a:ext cx="6972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Вход (X):</a:t>
            </a:r>
            <a:r>
              <a:rPr sz="1350" b="0" i="0" u="none">
                <a:solidFill>
                  <a:srgbClr val="F8FAFC"/>
                </a:solidFill>
                <a:latin typeface="Inter"/>
              </a:rPr>
              <a:t> Индекс категории музыки из датасета.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9700" y="4567237"/>
            <a:ext cx="6972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Выход (Y):</a:t>
            </a:r>
            <a:r>
              <a:rPr sz="1350" b="0" i="0" u="none">
                <a:solidFill>
                  <a:srgbClr val="F8FAFC"/>
                </a:solidFill>
                <a:latin typeface="Inter"/>
              </a:rPr>
              <a:t> Прогнозируемая частота мозга в Герцах.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9700" y="4843462"/>
            <a:ext cx="6229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Inter"/>
              </a:rPr>
              <a:t>Кнопки: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«Снизить», «Повысить» и «Держать» подбирают трек по прогнозу.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81275"/>
            <a:ext cx="4000500" cy="2638425"/>
          </a:xfrm>
          <a:prstGeom prst="roundRect">
            <a:avLst>
              <a:gd name="adj" fmla="val 57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6300" y="3248025"/>
            <a:ext cx="3467100" cy="704850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6300" y="4067175"/>
            <a:ext cx="3467100" cy="885825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КРИТЕРИЙ 4 // ПОДТВЕРЖДЕНИЕ РАБОТАЮЩЕГО ОБРАЗЦА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Интерфейс и функции прототипа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847975"/>
            <a:ext cx="45505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1. Окно инициализации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381375"/>
            <a:ext cx="4000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Выбор порта и возраста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600450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JetBrains Mono"/>
              </a:rPr>
              <a:t>COM3 // Возраст: 17 лет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200525"/>
            <a:ext cx="4000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Дополнительные модули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419600"/>
            <a:ext cx="3295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nter"/>
              </a:rPr>
              <a:t>MP3-плеер + Запись ЭЭГ в /records/*.txt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1821569"/>
            <a:ext cx="7470448" cy="39959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00" y="2357437"/>
            <a:ext cx="3619500" cy="304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2471737"/>
            <a:ext cx="3390900" cy="2819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600" y="2814637"/>
            <a:ext cx="7010400" cy="21336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814637"/>
          <a:ext cx="7010399" cy="2133600"/>
        </p:xfrm>
        <a:graphic>
          <a:graphicData uri="http://schemas.openxmlformats.org/drawingml/2006/table">
            <a:tbl>
              <a:tblPr/>
              <a:tblGrid>
                <a:gridCol w="4216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8FAFC"/>
                          </a:solidFill>
                          <a:latin typeface="Inter"/>
                        </a:rPr>
                        <a:t>Методика проверки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8FAFC"/>
                          </a:solidFill>
                          <a:latin typeface="Inter"/>
                        </a:rPr>
                        <a:t>План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8FAFC"/>
                          </a:solidFill>
                          <a:latin typeface="Inter"/>
                        </a:rPr>
                        <a:t>Факт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Inter"/>
                        </a:rPr>
                        <a:t>1. Тест COM-порта:</a:t>
                      </a:r>
                      <a:r>
                        <a:rPr sz="1275" b="0" i="0" u="none">
                          <a:solidFill>
                            <a:srgbClr val="0F172A"/>
                          </a:solidFill>
                          <a:latin typeface="Inter"/>
                        </a:rPr>
                        <a:t> 1000 пакетов на 9600 бод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&lt; 50 мс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Inter"/>
                        </a:rPr>
                        <a:t>32 мс (0 потерь)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Inter"/>
                        </a:rPr>
                        <a:t>2. Точность калибровки:</a:t>
                      </a:r>
                      <a:r>
                        <a:rPr sz="1275" b="0" i="0" u="none">
                          <a:solidFill>
                            <a:srgbClr val="0F172A"/>
                          </a:solidFill>
                          <a:latin typeface="Inter"/>
                        </a:rPr>
                        <a:t> волны 1–35 Гц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± 0.5 Гц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Inter"/>
                        </a:rPr>
                        <a:t>± 0.2 Гц (100%)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Inter"/>
                        </a:rPr>
                        <a:t>3. Кросс-валидация ML:</a:t>
                      </a:r>
                      <a:r>
                        <a:rPr sz="1275" b="0" i="0" u="none">
                          <a:solidFill>
                            <a:srgbClr val="0F172A"/>
                          </a:solidFill>
                          <a:latin typeface="Inter"/>
                        </a:rPr>
                        <a:t> тест выборки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R² ≥ 0.85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Inter"/>
                        </a:rPr>
                        <a:t>R² = 0.89 (4 мс)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Inter"/>
                        </a:rPr>
                        <a:t>4. Сессия биофидбэка:</a:t>
                      </a:r>
                      <a:r>
                        <a:rPr sz="1275" b="0" i="0" u="none">
                          <a:solidFill>
                            <a:srgbClr val="0F172A"/>
                          </a:solidFill>
                          <a:latin typeface="Inter"/>
                        </a:rPr>
                        <a:t> снижение с 22 Гц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8–13 Гц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Inter"/>
                        </a:rPr>
                        <a:t>10.5 Гц за 3 мин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КРИТЕРИЙ 4 // ВЕРИФИКАЦИЯ ПОКАЗАТЕЛЕЙ НАЗНАЧЕНИЯ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Программа и методика испытаний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343525"/>
            <a:ext cx="10972800" cy="1057275"/>
          </a:xfrm>
          <a:prstGeom prst="roundRect">
            <a:avLst>
              <a:gd name="adj" fmla="val 1441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62075"/>
            <a:ext cx="5372100" cy="1362075"/>
          </a:xfrm>
          <a:prstGeom prst="roundRect">
            <a:avLst>
              <a:gd name="adj" fmla="val 11188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362075"/>
            <a:ext cx="5372100" cy="1362075"/>
          </a:xfrm>
          <a:prstGeom prst="roundRect">
            <a:avLst>
              <a:gd name="adj" fmla="val 111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КРИТЕРИЙ 5 // ЛИЧНЫЙ ВКЛАД, РОЛИ И ОБЩИЕ ВЫВОДЫ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Роли в проекте и итоги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5572125"/>
            <a:ext cx="105346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Вывод:</a:t>
            </a:r>
            <a:r>
              <a:rPr sz="1350" b="0" i="0" u="none">
                <a:solidFill>
                  <a:srgbClr val="F8FAFC"/>
                </a:solidFill>
                <a:latin typeface="Inter"/>
              </a:rPr>
              <a:t> Создан рабочий кроссплатформенный прототип «Нейро-плеера» (Python, PyQt6, Scikit-learn, Arduino). Все заявленные показатели назначения полностью подтверждены в ходе испытаний, а модульная архитектура позволяет масштабировать решение в медицине и образовании.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590675"/>
            <a:ext cx="645080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Автор: Морозов Тимофей (90% работ)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895475"/>
            <a:ext cx="50101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Inter"/>
              </a:rPr>
              <a:t>Проведение опроса, сборка схемы Arduino, код на Python (PyQt6, PyQtGraph), обучение модели Scikit-learn, внедрение плеера и испытания.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1590675"/>
            <a:ext cx="5753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Руководитель: Артем Гуйван и респонденты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1895475"/>
            <a:ext cx="50101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Научный руководитель — постановка ТЗ, ревью архитектуры и методики испытаний. Фокус-группа (45 чел.) — разметка музыкального датасета.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24075" y="4152900"/>
            <a:ext cx="7943850" cy="87630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876425"/>
            <a:ext cx="5715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39681" y="2619375"/>
            <a:ext cx="7712487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Space Grotesk"/>
              </a:rPr>
              <a:t>Спасибо за внимание!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8375" y="3448050"/>
            <a:ext cx="771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Inter"/>
              </a:rPr>
              <a:t>Готов ответить на ваши вопросы по проекту «Нейро-плеер»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756" y="4381500"/>
            <a:ext cx="3405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РАЗРАБОТЧИК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756" y="4581525"/>
            <a:ext cx="3405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Морозов Тимофей Дмитриевич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3796" y="4381500"/>
            <a:ext cx="1488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РУКОВОДИТЕЛЬ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3796" y="4581525"/>
            <a:ext cx="1488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Артем Гуйван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5415" y="4381500"/>
            <a:ext cx="2750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РЕПОЗИТОРИЙ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5415" y="4581525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JetBrains Mono"/>
              </a:rPr>
              <a:t>GitHub / Neuro-Player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5726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Inter"/>
              </a:rPr>
              <a:t>https://cdn.sparkfun.com/assets/9/1/e/4/8/515b4656ce395f8a38000000.png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24884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learn.sparkfun.com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4917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Inter"/>
              </a:rPr>
              <a:t>https://bioserenity.ai/wp-content/uploads/2026/06/EEG-Image.jpg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5012"/>
            <a:ext cx="19407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bioserenity.ai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901</Words>
  <Application>Microsoft Office PowerPoint</Application>
  <PresentationFormat>Широкоэкранный</PresentationFormat>
  <Paragraphs>148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Inter</vt:lpstr>
      <vt:lpstr>Arial</vt:lpstr>
      <vt:lpstr>JetBrains Mono</vt:lpstr>
      <vt:lpstr>Space Grotesk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2026-10-23T10:46:19Z</dcterms:modified>
  <cp:category/>
</cp:coreProperties>
</file>